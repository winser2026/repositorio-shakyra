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O PARADOXO MODAL NA LOGÍSTICA DE COMBUSTÍVEIS EM MOÇAMBIQUE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DCDCDC"/>
                </a:solidFill>
                <a:latin typeface="Arial"/>
              </a:defRPr>
            </a:pPr>
            <a:r>
              <a:t>Impactos Operacionais, Financeiros e Regulatórios da Dependência do Transporte Rodoviário (2015-2025)</a:t>
            </a:r>
            <a:br/>
            <a:br/>
            <a:r>
              <a:t>Shakyra Honoré Kamdoum Noussi</a:t>
            </a:r>
            <a:br/>
            <a:r>
              <a:t>Universidade Técnica de Moçambique (UDM) - 2024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1. Contextualização do Problema de Pesquisa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Dependência Crítica: 60% a 65% dos combustíveis líquidos em Moçambique circulam via camião-cisterna.</a:t>
            </a:r>
          </a:p>
          <a:p>
            <a:pPr>
              <a:spcAft>
                <a:spcPts val="1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Infraestrutura Ausente: 0 km de oleodutos internos para consumo nacional (apenas duto Beira-Harare em trânsito).</a:t>
            </a:r>
          </a:p>
          <a:p>
            <a:pPr>
              <a:spcAft>
                <a:spcPts val="1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Custos Inflacionados: Frete rodoviário consome 43,5% do preço terrestre final, contra 24,5% na média da OCDE.</a:t>
            </a:r>
          </a:p>
          <a:p>
            <a:pPr>
              <a:spcAft>
                <a:spcPts val="1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Gargalo Portuário: Congestionamentos na Matola, Beira e Nacala geram demurrage diária de USD 20.000 a 25.000 por navio.</a:t>
            </a:r>
          </a:p>
          <a:p>
            <a:pPr>
              <a:spcAft>
                <a:spcPts val="1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Vulnerabilidade Social: Roturas frequentes de estoque nas províncias do Norte (Niassa e Nampula até 14 dias sem combustível).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2. Objetivos Geral e Específicos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Objetivo Geral: Analisar os impactos operacionais, financeiros e regulatórios da dependência do transporte rodoviário de combustíveis em Moçambique (2015-2025).</a:t>
            </a:r>
          </a:p>
          <a:p>
            <a:pPr>
              <a:spcAft>
                <a:spcPts val="1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Objetivo Específico 1: Quantificar os custos de ineficiência e a decomposição do frete rodoviário por ton/km.</a:t>
            </a:r>
          </a:p>
          <a:p>
            <a:pPr>
              <a:spcAft>
                <a:spcPts val="1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Objetivo Específico 2: Mapear a fragilidade das infraestruturas de tancagem e acostagem portuária nos três corredores (Sul, Centro, Norte).</a:t>
            </a:r>
          </a:p>
          <a:p>
            <a:pPr>
              <a:spcAft>
                <a:spcPts val="1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Objetivo Específico 3: Avaliar a matriz de risco sistémico através do método FMEA e propor diretrizes estratégicas de transição multimodal.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3. Metodologia e Amostra do Painel (N=35)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Amostragem Primária Abrangente (N=35 Respondentes Auditados):</a:t>
            </a:r>
          </a:p>
          <a:p>
            <a:pPr>
              <a:spcAft>
                <a:spcPts val="1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• N=6 Diretores de Supply Chain (Petromoc, TotalEnergies, Puma, Galp, Engen, Vivo Energy).</a:t>
            </a:r>
          </a:p>
          <a:p>
            <a:pPr>
              <a:spcAft>
                <a:spcPts val="1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• N=5 Entidades Reguladoras e Órgãos Estatais (INP, ARENE, MTC, CFM, AT/Alfândegas).</a:t>
            </a:r>
          </a:p>
          <a:p>
            <a:pPr>
              <a:spcAft>
                <a:spcPts val="1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• N=24 Operadores Frotistas Rodoviários (824 camiões-cisterna auditados nos 3 corredores).</a:t>
            </a:r>
          </a:p>
          <a:p>
            <a:pPr>
              <a:spcAft>
                <a:spcPts val="1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Base Secundária Auditada: 52 relatórios institucionais, dados estatísticos 2015-2024 e benchmarks LPI World Bank.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4. Modelagem Econométrica: Perda de USD 180M a 250M/Ano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A dependência rodoviária impõe um custo de ineficiência equivalente a 1,5% do PIB de Moçambique:</a:t>
            </a:r>
          </a:p>
          <a:p>
            <a:pPr>
              <a:spcAft>
                <a:spcPts val="1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• Frete Rodoviário Excessivo: USD 75M - 95M (40% da ineficiência total).</a:t>
            </a:r>
          </a:p>
          <a:p>
            <a:pPr>
              <a:spcAft>
                <a:spcPts val="1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• Demurrage Portuário: USD 25M - 40M (15% da perda anual).</a:t>
            </a:r>
          </a:p>
          <a:p>
            <a:pPr>
              <a:spcAft>
                <a:spcPts val="1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• Furtos, Desvios e Adulteração: USD 30M - 45M (18% do prejuízo).</a:t>
            </a:r>
          </a:p>
          <a:p>
            <a:pPr>
              <a:spcAft>
                <a:spcPts val="1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• Custos Burocráticos e Fronteiras: USD 20M - 30M (11% do total).</a:t>
            </a:r>
          </a:p>
          <a:p>
            <a:pPr>
              <a:spcAft>
                <a:spcPts val="1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• Paragem Económica por Roturas: USD 22M - 25M (11% de impacto indireto).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5. Evolução Histórica do Frete Rodoviário (2015-2025)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Evolução do Frete por Tonelada Transportada:</a:t>
            </a:r>
          </a:p>
          <a:p>
            <a:pPr>
              <a:spcAft>
                <a:spcPts val="1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• 2015: USD 42,00 / ton</a:t>
            </a:r>
          </a:p>
          <a:p>
            <a:pPr>
              <a:spcAft>
                <a:spcPts val="1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• 2019: USD 58,00 / ton</a:t>
            </a:r>
          </a:p>
          <a:p>
            <a:pPr>
              <a:spcAft>
                <a:spcPts val="1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• 2023: USD 71,00 / ton</a:t>
            </a:r>
          </a:p>
          <a:p>
            <a:pPr>
              <a:spcAft>
                <a:spcPts val="1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• 2025 (Projeção): USD 78,00 / ton (subida acumulada de 85,7%).</a:t>
            </a:r>
          </a:p>
          <a:p>
            <a:pPr>
              <a:spcAft>
                <a:spcPts val="1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Decomposição do Custo: Diesel (42%), Manutenção e Pneus (22%), Portagens (12%), Demurrage (10%), Seguros/Furtos (8%), Admin (6%).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6. Diagnóstico Operacional por Corredor Logístico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Corredor Sul (Maputo/Matola): Maior capacidade de tancagem (12-15 dias), mas estrangulado por tráfego urbano de minérios.</a:t>
            </a:r>
          </a:p>
          <a:p>
            <a:pPr>
              <a:spcAft>
                <a:spcPts val="1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Corredor Centro (Beira): Estrutura de ligação regional (Zimbábue/Maláui), mas sofre com assoreamento do porto e degradação da EN6.</a:t>
            </a:r>
          </a:p>
          <a:p>
            <a:pPr>
              <a:spcAft>
                <a:spcPts val="1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Corredor Norte (Nacala): Situação mais crítica. Autonomia &lt;6 dias, frete consome até 44% do valor final e esperas no porto superam 72h.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7. Avaliação FMEA dos Riscos Sistémicos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Ranking dos Riscos por RPN (Risk Priority Number):</a:t>
            </a:r>
          </a:p>
          <a:p>
            <a:pPr>
              <a:spcAft>
                <a:spcPts val="1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1. Sinistralidade Rodoviária (Acidentes): RPN 688,2 (78,2%) - Risco Crítico Extremo.</a:t>
            </a:r>
          </a:p>
          <a:p>
            <a:pPr>
              <a:spcAft>
                <a:spcPts val="1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2. Furtos e Desvios de Carga: RPN 596,7 (70,2%) - Risco Alto/Crítico.</a:t>
            </a:r>
          </a:p>
          <a:p>
            <a:pPr>
              <a:spcAft>
                <a:spcPts val="1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3. Eventos Climáticos / Ciclones (EN1/EN6): RPN 475,2 (59,5%) - Risco Alto.</a:t>
            </a:r>
          </a:p>
          <a:p>
            <a:pPr>
              <a:spcAft>
                <a:spcPts val="1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4. Contaminação Hídrica por Derrames: RPN 323,2 (39,1%) - Risco Médio-Alto.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8. Análise de Gaps Infraestruturais e Tecnológicos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Principais Desvios em Relação aos Padrões Internacionais:</a:t>
            </a:r>
          </a:p>
          <a:p>
            <a:pPr>
              <a:spcAft>
                <a:spcPts val="1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• Oleodutos Internos: 5% Atual vs 80% Necessário (Gap de 75 pp).</a:t>
            </a:r>
          </a:p>
          <a:p>
            <a:pPr>
              <a:spcAft>
                <a:spcPts val="1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• Monitorização SCADA/IoT: 15% Atual vs 90% Necessário (Gap de 75 pp).</a:t>
            </a:r>
          </a:p>
          <a:p>
            <a:pPr>
              <a:spcAft>
                <a:spcPts val="1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• Certificação ADR de Motoristas: &lt;30% Atual vs 80% Necessário (Gap de 50+ pp).</a:t>
            </a:r>
          </a:p>
          <a:p>
            <a:pPr>
              <a:spcAft>
                <a:spcPts val="1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• Frota Ferroviária Férrea: 25% Atual vs 75% Necessário (Gap de 50 pp).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9. Diretrizes Estratégicas para o Setor (2025-2030)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1. Construção do Oleoduto Interno Sul-Centro-Norte via Parcerias Público-Privadas (PPPs).</a:t>
            </a:r>
          </a:p>
          <a:p>
            <a:pPr>
              <a:spcAft>
                <a:spcPts val="1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2. Reabilitação Urgente da Frota Férrea de Vagões-Cisterna do CFM.</a:t>
            </a:r>
          </a:p>
          <a:p>
            <a:pPr>
              <a:spcAft>
                <a:spcPts val="1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3. Dragagem Contínua e Expansão dos Berços de Acostagem no Porto da Beira.</a:t>
            </a:r>
          </a:p>
          <a:p>
            <a:pPr>
              <a:spcAft>
                <a:spcPts val="1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4. Obrigatoriedade de SCADA, Rastreio GPS Integrado e Fecho Eletrónico de Válvulas.</a:t>
            </a:r>
          </a:p>
          <a:p>
            <a:pPr>
              <a:spcAft>
                <a:spcPts val="12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• 5. Execução Efetiva do Fundo de Compensação pela ARENE com liquidação em &lt;30 dias.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